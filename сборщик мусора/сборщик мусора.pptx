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57" r:id="rId3"/>
    <p:sldId id="258" r:id="rId4"/>
    <p:sldId id="296" r:id="rId5"/>
    <p:sldId id="297" r:id="rId6"/>
  </p:sldIdLst>
  <p:sldSz cx="9144000" cy="5143500" type="screen16x9"/>
  <p:notesSz cx="6858000" cy="9144000"/>
  <p:embeddedFontLst>
    <p:embeddedFont>
      <p:font typeface="Assistant" pitchFamily="2" charset="-79"/>
      <p:regular r:id="rId8"/>
      <p:bold r:id="rId9"/>
    </p:embeddedFont>
    <p:embeddedFont>
      <p:font typeface="Sora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61723E-F602-4E68-BEEE-56550B0D61C5}">
  <a:tblStyle styleId="{6A61723E-F602-4E68-BEEE-56550B0D61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DF223F-8277-415A-9B6C-12780CD7A5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976" autoAdjust="0"/>
  </p:normalViewPr>
  <p:slideViewPr>
    <p:cSldViewPr snapToGrid="0">
      <p:cViewPr varScale="1">
        <p:scale>
          <a:sx n="107" d="100"/>
          <a:sy n="107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29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1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5.9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450DA740-200F-9278-3BA6-EA3076A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588FDB22-A45C-6344-9D18-12A9D044A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AF01AB9E-E19D-7483-E7BE-2B6D5A6F8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39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D4C36DF-C62C-E8B6-AA14-E7A8686B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39A0D7A0-F07E-4C21-30A8-9C8E0B18D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1BC77BCD-10D3-7888-4773-4F07A7469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63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2" hasCustomPrompt="1"/>
          </p:nvPr>
        </p:nvSpPr>
        <p:spPr>
          <a:xfrm>
            <a:off x="1584389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3" hasCustomPrompt="1"/>
          </p:nvPr>
        </p:nvSpPr>
        <p:spPr>
          <a:xfrm>
            <a:off x="1584389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4" hasCustomPrompt="1"/>
          </p:nvPr>
        </p:nvSpPr>
        <p:spPr>
          <a:xfrm>
            <a:off x="4167887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5" hasCustomPrompt="1"/>
          </p:nvPr>
        </p:nvSpPr>
        <p:spPr>
          <a:xfrm>
            <a:off x="4167887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6" hasCustomPrompt="1"/>
          </p:nvPr>
        </p:nvSpPr>
        <p:spPr>
          <a:xfrm>
            <a:off x="6751411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7" hasCustomPrompt="1"/>
          </p:nvPr>
        </p:nvSpPr>
        <p:spPr>
          <a:xfrm>
            <a:off x="6751411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"/>
          </p:nvPr>
        </p:nvSpPr>
        <p:spPr>
          <a:xfrm>
            <a:off x="719939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8"/>
          </p:nvPr>
        </p:nvSpPr>
        <p:spPr>
          <a:xfrm>
            <a:off x="3303437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5886961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3"/>
          </p:nvPr>
        </p:nvSpPr>
        <p:spPr>
          <a:xfrm>
            <a:off x="719939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4"/>
          </p:nvPr>
        </p:nvSpPr>
        <p:spPr>
          <a:xfrm>
            <a:off x="3303437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886961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58" name="Google Shape;258;p13"/>
          <p:cNvGrpSpPr/>
          <p:nvPr/>
        </p:nvGrpSpPr>
        <p:grpSpPr>
          <a:xfrm>
            <a:off x="1" y="461906"/>
            <a:ext cx="8886592" cy="4508834"/>
            <a:chOff x="1" y="461906"/>
            <a:chExt cx="8886592" cy="4508834"/>
          </a:xfrm>
        </p:grpSpPr>
        <p:sp>
          <p:nvSpPr>
            <p:cNvPr id="259" name="Google Shape;259;p13"/>
            <p:cNvSpPr/>
            <p:nvPr/>
          </p:nvSpPr>
          <p:spPr>
            <a:xfrm>
              <a:off x="1" y="4246240"/>
              <a:ext cx="715200" cy="72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260" name="Google Shape;260;p13"/>
            <p:cNvGrpSpPr/>
            <p:nvPr/>
          </p:nvGrpSpPr>
          <p:grpSpPr>
            <a:xfrm>
              <a:off x="8074920" y="4608510"/>
              <a:ext cx="707960" cy="146187"/>
              <a:chOff x="7797150" y="445600"/>
              <a:chExt cx="865900" cy="178800"/>
            </a:xfrm>
          </p:grpSpPr>
          <p:sp>
            <p:nvSpPr>
              <p:cNvPr id="261" name="Google Shape;261;p1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>
              <a:off x="8428900" y="461906"/>
              <a:ext cx="457692" cy="146187"/>
              <a:chOff x="715100" y="4416700"/>
              <a:chExt cx="559800" cy="1788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Сборщик мусора в </a:t>
            </a:r>
            <a:r>
              <a:rPr lang="en-US" sz="4500" dirty="0"/>
              <a:t>Java</a:t>
            </a:r>
            <a:endParaRPr sz="4000" b="0" dirty="0"/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3325831" y="3546094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Енченкова Виолетта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Структура памяти в </a:t>
            </a:r>
            <a:r>
              <a:rPr lang="en-US" dirty="0"/>
              <a:t>Java</a:t>
            </a:r>
            <a:endParaRPr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D9DA5DC-7DF5-F9BA-8E3F-3D0E3F2E58CC}"/>
              </a:ext>
            </a:extLst>
          </p:cNvPr>
          <p:cNvSpPr/>
          <p:nvPr/>
        </p:nvSpPr>
        <p:spPr>
          <a:xfrm>
            <a:off x="231648" y="1127544"/>
            <a:ext cx="8680704" cy="3895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b="1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NATIVE MEMORY</a:t>
            </a:r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EA0ED84-FB19-C087-4338-A1E1BF8669DC}"/>
              </a:ext>
            </a:extLst>
          </p:cNvPr>
          <p:cNvSpPr/>
          <p:nvPr/>
        </p:nvSpPr>
        <p:spPr>
          <a:xfrm>
            <a:off x="751320" y="1472220"/>
            <a:ext cx="7704000" cy="14081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HEAP</a:t>
            </a:r>
            <a:r>
              <a:rPr lang="ru-RU" b="1" dirty="0">
                <a:solidFill>
                  <a:schemeClr val="accent2">
                    <a:lumMod val="25000"/>
                  </a:schemeClr>
                </a:solidFill>
              </a:rPr>
              <a:t> (куча)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D9C9070-D356-B5DE-BEC8-79A6A426FE1B}"/>
              </a:ext>
            </a:extLst>
          </p:cNvPr>
          <p:cNvSpPr/>
          <p:nvPr/>
        </p:nvSpPr>
        <p:spPr>
          <a:xfrm>
            <a:off x="1334856" y="1816989"/>
            <a:ext cx="1389888" cy="718566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EDEN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021D5BB-5B64-402C-0034-64A182613DDD}"/>
              </a:ext>
            </a:extLst>
          </p:cNvPr>
          <p:cNvSpPr/>
          <p:nvPr/>
        </p:nvSpPr>
        <p:spPr>
          <a:xfrm>
            <a:off x="2926080" y="1798701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8B1A6E-811C-3B6D-59D6-1B5B64EAB726}"/>
              </a:ext>
            </a:extLst>
          </p:cNvPr>
          <p:cNvSpPr/>
          <p:nvPr/>
        </p:nvSpPr>
        <p:spPr>
          <a:xfrm>
            <a:off x="4249080" y="1792986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B103138-DA78-454A-FA95-FFA9146AFA59}"/>
              </a:ext>
            </a:extLst>
          </p:cNvPr>
          <p:cNvSpPr/>
          <p:nvPr/>
        </p:nvSpPr>
        <p:spPr>
          <a:xfrm>
            <a:off x="5572080" y="1792986"/>
            <a:ext cx="1901616" cy="706755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</a:t>
            </a:r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B73B70F-3A72-F6DC-D639-71B6033A64CC}"/>
              </a:ext>
            </a:extLst>
          </p:cNvPr>
          <p:cNvSpPr/>
          <p:nvPr/>
        </p:nvSpPr>
        <p:spPr>
          <a:xfrm>
            <a:off x="688680" y="308457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1</a:t>
            </a:r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0D27972-EDA5-DFA3-C123-07B1DBCE1CE6}"/>
              </a:ext>
            </a:extLst>
          </p:cNvPr>
          <p:cNvSpPr/>
          <p:nvPr/>
        </p:nvSpPr>
        <p:spPr>
          <a:xfrm>
            <a:off x="2176272" y="3096769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2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E4C84AB-413A-0218-76BA-4158A4410414}"/>
              </a:ext>
            </a:extLst>
          </p:cNvPr>
          <p:cNvSpPr/>
          <p:nvPr/>
        </p:nvSpPr>
        <p:spPr>
          <a:xfrm>
            <a:off x="5425608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METASPACE</a:t>
            </a:r>
            <a:endParaRPr lang="ru-RU" dirty="0"/>
          </a:p>
          <a:p>
            <a:pPr algn="ctr"/>
            <a:r>
              <a:rPr lang="ru-RU" dirty="0"/>
              <a:t>(метаданные)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F3F393E-E256-9392-D29E-C0E8BD72F0E1}"/>
              </a:ext>
            </a:extLst>
          </p:cNvPr>
          <p:cNvSpPr/>
          <p:nvPr/>
        </p:nvSpPr>
        <p:spPr>
          <a:xfrm>
            <a:off x="3750276" y="310286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N</a:t>
            </a:r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990CE0F-3333-D812-6207-AA7284578274}"/>
              </a:ext>
            </a:extLst>
          </p:cNvPr>
          <p:cNvSpPr/>
          <p:nvPr/>
        </p:nvSpPr>
        <p:spPr>
          <a:xfrm>
            <a:off x="7016832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  <a:br>
              <a:rPr lang="en-US" dirty="0"/>
            </a:br>
            <a:r>
              <a:rPr lang="en-US" dirty="0"/>
              <a:t>CACHE</a:t>
            </a: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14:cNvPr>
              <p14:cNvContentPartPr/>
              <p14:nvPr/>
            </p14:nvContentPartPr>
            <p14:xfrm>
              <a:off x="3527796" y="4015596"/>
              <a:ext cx="360" cy="36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979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14:cNvPr>
              <p14:cNvContentPartPr/>
              <p14:nvPr/>
            </p14:nvContentPartPr>
            <p14:xfrm>
              <a:off x="3601956" y="4015596"/>
              <a:ext cx="360" cy="360"/>
            </p14:xfrm>
          </p:contentPart>
        </mc:Choice>
        <mc:Fallback xmlns=""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395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14:cNvPr>
              <p14:cNvContentPartPr/>
              <p14:nvPr/>
            </p14:nvContentPartPr>
            <p14:xfrm>
              <a:off x="3676116" y="4015596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8116" y="399795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44552A83-A91E-8F2C-1790-7D15FD8CEF2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32336" y="960765"/>
            <a:ext cx="2537100" cy="461700"/>
          </a:xfrm>
        </p:spPr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367E7C9-C524-2FC4-07C7-AEA1A2E7BE90}"/>
              </a:ext>
            </a:extLst>
          </p:cNvPr>
          <p:cNvCxnSpPr>
            <a:cxnSpLocks/>
          </p:cNvCxnSpPr>
          <p:nvPr/>
        </p:nvCxnSpPr>
        <p:spPr>
          <a:xfrm>
            <a:off x="640273" y="1365504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563;p34">
            <a:extLst>
              <a:ext uri="{FF2B5EF4-FFF2-40B4-BE49-F238E27FC236}">
                <a16:creationId xmlns:a16="http://schemas.microsoft.com/office/drawing/2014/main" id="{673FA57F-0422-CD96-878A-CCADFD72211D}"/>
              </a:ext>
            </a:extLst>
          </p:cNvPr>
          <p:cNvSpPr txBox="1">
            <a:spLocks/>
          </p:cNvSpPr>
          <p:nvPr/>
        </p:nvSpPr>
        <p:spPr>
          <a:xfrm>
            <a:off x="642939" y="1365504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Объект, на который нет активных ссылок.</a:t>
            </a:r>
            <a:endParaRPr lang="en-US" sz="12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8A55FC3-B0CF-BC48-7E5E-BE3911F76E0F}"/>
              </a:ext>
            </a:extLst>
          </p:cNvPr>
          <p:cNvGrpSpPr/>
          <p:nvPr/>
        </p:nvGrpSpPr>
        <p:grpSpPr>
          <a:xfrm>
            <a:off x="242124" y="2130179"/>
            <a:ext cx="2822105" cy="1956799"/>
            <a:chOff x="242124" y="2130179"/>
            <a:chExt cx="2822105" cy="1956799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549242A0-A4CC-9E06-3085-B99FFBCE39E8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0F534288-B376-00E2-1A3A-CB04EC460BFD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Создаем объекты – они находятся в куче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160DCC5C-5E38-FF32-E066-9EC715CCE18C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3" name="Google Shape;563;p34">
              <a:extLst>
                <a:ext uri="{FF2B5EF4-FFF2-40B4-BE49-F238E27FC236}">
                  <a16:creationId xmlns:a16="http://schemas.microsoft.com/office/drawing/2014/main" id="{58534E3A-A05D-D3C0-56B9-2AF33E9005A5}"/>
                </a:ext>
              </a:extLst>
            </p:cNvPr>
            <p:cNvSpPr txBox="1">
              <a:spLocks/>
            </p:cNvSpPr>
            <p:nvPr/>
          </p:nvSpPr>
          <p:spPr>
            <a:xfrm>
              <a:off x="605907" y="3005108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Убираем ссылку (=</a:t>
              </a:r>
              <a:r>
                <a:rPr lang="en-US" sz="1200" b="0" dirty="0"/>
                <a:t>null) – </a:t>
              </a:r>
              <a:r>
                <a:rPr lang="ru-RU" sz="1200" b="0" dirty="0"/>
                <a:t>объект становится мусором</a:t>
              </a:r>
            </a:p>
            <a:p>
              <a:endParaRPr lang="en-US" sz="1200" dirty="0"/>
            </a:p>
          </p:txBody>
        </p:sp>
        <p:sp>
          <p:nvSpPr>
            <p:cNvPr id="534" name="Google Shape;563;p34">
              <a:extLst>
                <a:ext uri="{FF2B5EF4-FFF2-40B4-BE49-F238E27FC236}">
                  <a16:creationId xmlns:a16="http://schemas.microsoft.com/office/drawing/2014/main" id="{88423F38-D21C-F355-775A-4AA760D2954B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3481951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Сборщик мусора </a:t>
              </a:r>
              <a:r>
                <a:rPr lang="en-US" sz="1200" b="0" dirty="0"/>
                <a:t>(GC) </a:t>
              </a:r>
              <a:r>
                <a:rPr lang="ru-RU" sz="1200" b="0" dirty="0"/>
                <a:t>сам его удалит</a:t>
              </a:r>
              <a:r>
                <a:rPr lang="en-US" sz="1200" b="0" dirty="0"/>
                <a:t>, </a:t>
              </a:r>
              <a:r>
                <a:rPr lang="ru-RU" sz="1200" b="0" dirty="0"/>
                <a:t>когда понадобится память</a:t>
              </a:r>
            </a:p>
            <a:p>
              <a:endParaRPr lang="en-US" sz="1200" dirty="0"/>
            </a:p>
          </p:txBody>
        </p:sp>
      </p:grpSp>
      <p:grpSp>
        <p:nvGrpSpPr>
          <p:cNvPr id="563" name="Группа 562">
            <a:extLst>
              <a:ext uri="{FF2B5EF4-FFF2-40B4-BE49-F238E27FC236}">
                <a16:creationId xmlns:a16="http://schemas.microsoft.com/office/drawing/2014/main" id="{63528A36-4E86-4075-0BD6-ACDFEB3901DD}"/>
              </a:ext>
            </a:extLst>
          </p:cNvPr>
          <p:cNvGrpSpPr/>
          <p:nvPr/>
        </p:nvGrpSpPr>
        <p:grpSpPr>
          <a:xfrm>
            <a:off x="5922519" y="1258898"/>
            <a:ext cx="2919509" cy="1427071"/>
            <a:chOff x="5097155" y="1258371"/>
            <a:chExt cx="2919509" cy="1427071"/>
          </a:xfrm>
        </p:grpSpPr>
        <p:sp>
          <p:nvSpPr>
            <p:cNvPr id="537" name="Прямоугольник: скругленные углы 536">
              <a:extLst>
                <a:ext uri="{FF2B5EF4-FFF2-40B4-BE49-F238E27FC236}">
                  <a16:creationId xmlns:a16="http://schemas.microsoft.com/office/drawing/2014/main" id="{88639DAD-72FD-ACF7-99A1-86A19BEB823C}"/>
                </a:ext>
              </a:extLst>
            </p:cNvPr>
            <p:cNvSpPr/>
            <p:nvPr/>
          </p:nvSpPr>
          <p:spPr>
            <a:xfrm>
              <a:off x="5097155" y="1286484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38" name="Прямоугольник: скругленные углы 537">
              <a:extLst>
                <a:ext uri="{FF2B5EF4-FFF2-40B4-BE49-F238E27FC236}">
                  <a16:creationId xmlns:a16="http://schemas.microsoft.com/office/drawing/2014/main" id="{06E16563-6092-772A-502D-4FA7385D3DBD}"/>
                </a:ext>
              </a:extLst>
            </p:cNvPr>
            <p:cNvSpPr/>
            <p:nvPr/>
          </p:nvSpPr>
          <p:spPr>
            <a:xfrm>
              <a:off x="6408674" y="1258371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42" name="Прямоугольник: скругленные углы 541">
              <a:extLst>
                <a:ext uri="{FF2B5EF4-FFF2-40B4-BE49-F238E27FC236}">
                  <a16:creationId xmlns:a16="http://schemas.microsoft.com/office/drawing/2014/main" id="{6868D133-A217-8B64-F85D-029AED98683A}"/>
                </a:ext>
              </a:extLst>
            </p:cNvPr>
            <p:cNvSpPr/>
            <p:nvPr/>
          </p:nvSpPr>
          <p:spPr>
            <a:xfrm>
              <a:off x="5210874" y="1477681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45" name="Прямоугольник: скругленные углы 544">
              <a:extLst>
                <a:ext uri="{FF2B5EF4-FFF2-40B4-BE49-F238E27FC236}">
                  <a16:creationId xmlns:a16="http://schemas.microsoft.com/office/drawing/2014/main" id="{024EC436-CED1-E886-4743-CD63D12FB127}"/>
                </a:ext>
              </a:extLst>
            </p:cNvPr>
            <p:cNvSpPr/>
            <p:nvPr/>
          </p:nvSpPr>
          <p:spPr>
            <a:xfrm>
              <a:off x="5210874" y="2044787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46" name="Овал 545">
              <a:extLst>
                <a:ext uri="{FF2B5EF4-FFF2-40B4-BE49-F238E27FC236}">
                  <a16:creationId xmlns:a16="http://schemas.microsoft.com/office/drawing/2014/main" id="{FF7530CF-7921-86F6-B6FF-B3D4960AFCC4}"/>
                </a:ext>
              </a:extLst>
            </p:cNvPr>
            <p:cNvSpPr/>
            <p:nvPr/>
          </p:nvSpPr>
          <p:spPr>
            <a:xfrm>
              <a:off x="6746413" y="1414997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47" name="Овал 546">
              <a:extLst>
                <a:ext uri="{FF2B5EF4-FFF2-40B4-BE49-F238E27FC236}">
                  <a16:creationId xmlns:a16="http://schemas.microsoft.com/office/drawing/2014/main" id="{9CF50A1F-3350-6823-3913-4C4D0C3685C7}"/>
                </a:ext>
              </a:extLst>
            </p:cNvPr>
            <p:cNvSpPr/>
            <p:nvPr/>
          </p:nvSpPr>
          <p:spPr>
            <a:xfrm>
              <a:off x="6746414" y="1988645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49" name="Прямая со стрелкой 548">
              <a:extLst>
                <a:ext uri="{FF2B5EF4-FFF2-40B4-BE49-F238E27FC236}">
                  <a16:creationId xmlns:a16="http://schemas.microsoft.com/office/drawing/2014/main" id="{996064D6-7835-7788-66A2-C20873D764B7}"/>
                </a:ext>
              </a:extLst>
            </p:cNvPr>
            <p:cNvCxnSpPr>
              <a:stCxn id="542" idx="3"/>
              <a:endCxn id="546" idx="2"/>
            </p:cNvCxnSpPr>
            <p:nvPr/>
          </p:nvCxnSpPr>
          <p:spPr>
            <a:xfrm flipV="1">
              <a:off x="6009949" y="165617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Прямая со стрелкой 549">
              <a:extLst>
                <a:ext uri="{FF2B5EF4-FFF2-40B4-BE49-F238E27FC236}">
                  <a16:creationId xmlns:a16="http://schemas.microsoft.com/office/drawing/2014/main" id="{58C8D8F9-2CD2-8277-3AF4-BBF52B391AC1}"/>
                </a:ext>
              </a:extLst>
            </p:cNvPr>
            <p:cNvCxnSpPr/>
            <p:nvPr/>
          </p:nvCxnSpPr>
          <p:spPr>
            <a:xfrm flipV="1">
              <a:off x="6005437" y="226784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4" name="Группа 563">
            <a:extLst>
              <a:ext uri="{FF2B5EF4-FFF2-40B4-BE49-F238E27FC236}">
                <a16:creationId xmlns:a16="http://schemas.microsoft.com/office/drawing/2014/main" id="{E4C0394F-F5E1-8C79-BC31-590A83D9D85F}"/>
              </a:ext>
            </a:extLst>
          </p:cNvPr>
          <p:cNvGrpSpPr/>
          <p:nvPr/>
        </p:nvGrpSpPr>
        <p:grpSpPr>
          <a:xfrm>
            <a:off x="5922519" y="3177534"/>
            <a:ext cx="2919509" cy="1427071"/>
            <a:chOff x="5097155" y="3228740"/>
            <a:chExt cx="2919509" cy="1427071"/>
          </a:xfrm>
        </p:grpSpPr>
        <p:sp>
          <p:nvSpPr>
            <p:cNvPr id="551" name="Прямоугольник: скругленные углы 550">
              <a:extLst>
                <a:ext uri="{FF2B5EF4-FFF2-40B4-BE49-F238E27FC236}">
                  <a16:creationId xmlns:a16="http://schemas.microsoft.com/office/drawing/2014/main" id="{643A480B-C939-07B4-AD75-B4833DD1F6E6}"/>
                </a:ext>
              </a:extLst>
            </p:cNvPr>
            <p:cNvSpPr/>
            <p:nvPr/>
          </p:nvSpPr>
          <p:spPr>
            <a:xfrm>
              <a:off x="5097155" y="3256853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2" name="Прямоугольник: скругленные углы 551">
              <a:extLst>
                <a:ext uri="{FF2B5EF4-FFF2-40B4-BE49-F238E27FC236}">
                  <a16:creationId xmlns:a16="http://schemas.microsoft.com/office/drawing/2014/main" id="{ADD58AD8-B2A6-1F05-7BE4-F86E8214FB61}"/>
                </a:ext>
              </a:extLst>
            </p:cNvPr>
            <p:cNvSpPr/>
            <p:nvPr/>
          </p:nvSpPr>
          <p:spPr>
            <a:xfrm>
              <a:off x="6408674" y="3228740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3" name="Прямоугольник: скругленные углы 552">
              <a:extLst>
                <a:ext uri="{FF2B5EF4-FFF2-40B4-BE49-F238E27FC236}">
                  <a16:creationId xmlns:a16="http://schemas.microsoft.com/office/drawing/2014/main" id="{7C6A6B01-3D0B-9BB6-77F0-0A7D1809474B}"/>
                </a:ext>
              </a:extLst>
            </p:cNvPr>
            <p:cNvSpPr/>
            <p:nvPr/>
          </p:nvSpPr>
          <p:spPr>
            <a:xfrm>
              <a:off x="5210874" y="3448050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54" name="Прямоугольник: скругленные углы 553">
              <a:extLst>
                <a:ext uri="{FF2B5EF4-FFF2-40B4-BE49-F238E27FC236}">
                  <a16:creationId xmlns:a16="http://schemas.microsoft.com/office/drawing/2014/main" id="{8B3AA6CB-0FD5-B60F-9FE9-27C4E54AF139}"/>
                </a:ext>
              </a:extLst>
            </p:cNvPr>
            <p:cNvSpPr/>
            <p:nvPr/>
          </p:nvSpPr>
          <p:spPr>
            <a:xfrm>
              <a:off x="5210874" y="4015156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55" name="Овал 554">
              <a:extLst>
                <a:ext uri="{FF2B5EF4-FFF2-40B4-BE49-F238E27FC236}">
                  <a16:creationId xmlns:a16="http://schemas.microsoft.com/office/drawing/2014/main" id="{A3BF2D01-79AD-BEB4-3BAF-ED33B20D298C}"/>
                </a:ext>
              </a:extLst>
            </p:cNvPr>
            <p:cNvSpPr/>
            <p:nvPr/>
          </p:nvSpPr>
          <p:spPr>
            <a:xfrm>
              <a:off x="6746413" y="3385366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56" name="Овал 555">
              <a:extLst>
                <a:ext uri="{FF2B5EF4-FFF2-40B4-BE49-F238E27FC236}">
                  <a16:creationId xmlns:a16="http://schemas.microsoft.com/office/drawing/2014/main" id="{460C1A95-A6A2-1618-76C6-4A9BC5276812}"/>
                </a:ext>
              </a:extLst>
            </p:cNvPr>
            <p:cNvSpPr/>
            <p:nvPr/>
          </p:nvSpPr>
          <p:spPr>
            <a:xfrm>
              <a:off x="6746414" y="3959014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57" name="Прямая со стрелкой 556">
              <a:extLst>
                <a:ext uri="{FF2B5EF4-FFF2-40B4-BE49-F238E27FC236}">
                  <a16:creationId xmlns:a16="http://schemas.microsoft.com/office/drawing/2014/main" id="{BD3404EF-34E0-B714-7483-0167530892E7}"/>
                </a:ext>
              </a:extLst>
            </p:cNvPr>
            <p:cNvCxnSpPr>
              <a:stCxn id="553" idx="3"/>
              <a:endCxn id="555" idx="2"/>
            </p:cNvCxnSpPr>
            <p:nvPr/>
          </p:nvCxnSpPr>
          <p:spPr>
            <a:xfrm flipV="1">
              <a:off x="6009949" y="3626539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EF833AB7-DB58-4961-CCBD-AC90684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8085651F-9EF5-DB82-D5E7-692EAB75CED7}"/>
              </a:ext>
            </a:extLst>
          </p:cNvPr>
          <p:cNvSpPr txBox="1"/>
          <p:nvPr/>
        </p:nvSpPr>
        <p:spPr>
          <a:xfrm>
            <a:off x="2995891" y="1648974"/>
            <a:ext cx="3152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Fruit fruit1 = new Fruit(“APPLE”);</a:t>
            </a:r>
          </a:p>
          <a:p>
            <a:r>
              <a:rPr lang="en-US" dirty="0"/>
              <a:t>Fruit fruit2 = new Fruit(“MANGO”);</a:t>
            </a:r>
            <a:endParaRPr lang="ru-RU" dirty="0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F5B5FEF2-4DE9-5B76-4BC2-2D6D3AA145AE}"/>
              </a:ext>
            </a:extLst>
          </p:cNvPr>
          <p:cNvSpPr txBox="1"/>
          <p:nvPr/>
        </p:nvSpPr>
        <p:spPr>
          <a:xfrm>
            <a:off x="3750238" y="35692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fruit2 = null;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3756DB0-AC44-127B-AC6F-91444D06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F518133B-7F1E-A898-4C71-94AAD9D4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мусора: процесс</a:t>
            </a:r>
          </a:p>
        </p:txBody>
      </p:sp>
      <p:grpSp>
        <p:nvGrpSpPr>
          <p:cNvPr id="598" name="Группа 597">
            <a:extLst>
              <a:ext uri="{FF2B5EF4-FFF2-40B4-BE49-F238E27FC236}">
                <a16:creationId xmlns:a16="http://schemas.microsoft.com/office/drawing/2014/main" id="{798806A7-8599-8D67-6525-FF07FCFA0AC5}"/>
              </a:ext>
            </a:extLst>
          </p:cNvPr>
          <p:cNvGrpSpPr/>
          <p:nvPr/>
        </p:nvGrpSpPr>
        <p:grpSpPr>
          <a:xfrm>
            <a:off x="-184826" y="1228318"/>
            <a:ext cx="6603026" cy="2257984"/>
            <a:chOff x="-219176" y="1255275"/>
            <a:chExt cx="8229320" cy="2916853"/>
          </a:xfrm>
        </p:grpSpPr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BFBF7BC9-38C5-0D5B-48DA-A8755C64F375}"/>
                </a:ext>
              </a:extLst>
            </p:cNvPr>
            <p:cNvGrpSpPr/>
            <p:nvPr/>
          </p:nvGrpSpPr>
          <p:grpSpPr>
            <a:xfrm>
              <a:off x="1722120" y="1255275"/>
              <a:ext cx="5425440" cy="719328"/>
              <a:chOff x="1280160" y="1194816"/>
              <a:chExt cx="5425440" cy="719328"/>
            </a:xfrm>
          </p:grpSpPr>
          <p:sp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0CF57218-8649-DA8D-EF00-E001A95E932C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77652533-2DDE-C328-6FC4-6B6D9E91A33E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9" name="Прямоугольник: скругленные углы 8">
                  <a:extLst>
                    <a:ext uri="{FF2B5EF4-FFF2-40B4-BE49-F238E27FC236}">
                      <a16:creationId xmlns:a16="http://schemas.microsoft.com/office/drawing/2014/main" id="{C7B04A6D-1F5E-211C-B27B-CA1330EBEB4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" name="Прямоугольник: скругленные углы 9">
                  <a:extLst>
                    <a:ext uri="{FF2B5EF4-FFF2-40B4-BE49-F238E27FC236}">
                      <a16:creationId xmlns:a16="http://schemas.microsoft.com/office/drawing/2014/main" id="{CF99F4FD-F987-4602-AEF5-226F51F331F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6" name="Группа 15">
                <a:extLst>
                  <a:ext uri="{FF2B5EF4-FFF2-40B4-BE49-F238E27FC236}">
                    <a16:creationId xmlns:a16="http://schemas.microsoft.com/office/drawing/2014/main" id="{A006BF78-2D29-F572-E87A-8060C524E096}"/>
                  </a:ext>
                </a:extLst>
              </p:cNvPr>
              <p:cNvGrpSpPr/>
              <p:nvPr/>
            </p:nvGrpSpPr>
            <p:grpSpPr>
              <a:xfrm>
                <a:off x="2743200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17" name="Прямоугольник: скругленные углы 16">
                  <a:extLst>
                    <a:ext uri="{FF2B5EF4-FFF2-40B4-BE49-F238E27FC236}">
                      <a16:creationId xmlns:a16="http://schemas.microsoft.com/office/drawing/2014/main" id="{0C37E127-6FFD-2999-29A7-8912EA48EDD6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Прямоугольник: скругленные углы 17">
                  <a:extLst>
                    <a:ext uri="{FF2B5EF4-FFF2-40B4-BE49-F238E27FC236}">
                      <a16:creationId xmlns:a16="http://schemas.microsoft.com/office/drawing/2014/main" id="{B785312A-2469-BF10-F18C-B1AD4F152AF7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7F61E2C2-DDB1-3FF1-A665-091C41838E8D}"/>
                  </a:ext>
                </a:extLst>
              </p:cNvPr>
              <p:cNvGrpSpPr/>
              <p:nvPr/>
            </p:nvGrpSpPr>
            <p:grpSpPr>
              <a:xfrm>
                <a:off x="3858768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0" name="Прямоугольник: скругленные углы 19">
                  <a:extLst>
                    <a:ext uri="{FF2B5EF4-FFF2-40B4-BE49-F238E27FC236}">
                      <a16:creationId xmlns:a16="http://schemas.microsoft.com/office/drawing/2014/main" id="{D3043243-37A7-C603-4780-BC9B8A27D39D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1" name="Прямоугольник: скругленные углы 20">
                  <a:extLst>
                    <a:ext uri="{FF2B5EF4-FFF2-40B4-BE49-F238E27FC236}">
                      <a16:creationId xmlns:a16="http://schemas.microsoft.com/office/drawing/2014/main" id="{32757E07-CA13-B5F5-A33A-4B780B4076DE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9A185CFB-E434-980C-64EE-22288EB9CB3B}"/>
                  </a:ext>
                </a:extLst>
              </p:cNvPr>
              <p:cNvGrpSpPr/>
              <p:nvPr/>
            </p:nvGrpSpPr>
            <p:grpSpPr>
              <a:xfrm>
                <a:off x="499262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3" name="Прямоугольник: скругленные углы 22">
                  <a:extLst>
                    <a:ext uri="{FF2B5EF4-FFF2-40B4-BE49-F238E27FC236}">
                      <a16:creationId xmlns:a16="http://schemas.microsoft.com/office/drawing/2014/main" id="{E10653D1-8597-6F68-F4DE-D41F572C8CEF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Прямоугольник: скругленные углы 23">
                  <a:extLst>
                    <a:ext uri="{FF2B5EF4-FFF2-40B4-BE49-F238E27FC236}">
                      <a16:creationId xmlns:a16="http://schemas.microsoft.com/office/drawing/2014/main" id="{A4C75386-0E06-52CA-46ED-2396F6761F6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E4039BFF-4B67-F219-FFFA-5998B69BB0B1}"/>
                </a:ext>
              </a:extLst>
            </p:cNvPr>
            <p:cNvGrpSpPr/>
            <p:nvPr/>
          </p:nvGrpSpPr>
          <p:grpSpPr>
            <a:xfrm>
              <a:off x="1722120" y="2379459"/>
              <a:ext cx="5425440" cy="719328"/>
              <a:chOff x="1280160" y="1194816"/>
              <a:chExt cx="5425440" cy="719328"/>
            </a:xfrm>
          </p:grpSpPr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B2D58ED4-5216-DDD8-DE32-92D8E0AF0DCD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F98C151D-8C3D-4645-D184-22ADF42B659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19" name="Прямоугольник: скругленные углы 518">
                  <a:extLst>
                    <a:ext uri="{FF2B5EF4-FFF2-40B4-BE49-F238E27FC236}">
                      <a16:creationId xmlns:a16="http://schemas.microsoft.com/office/drawing/2014/main" id="{310B365F-7DBB-4496-70B6-8B8CDE6B29F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0" name="Прямоугольник: скругленные углы 519">
                  <a:extLst>
                    <a:ext uri="{FF2B5EF4-FFF2-40B4-BE49-F238E27FC236}">
                      <a16:creationId xmlns:a16="http://schemas.microsoft.com/office/drawing/2014/main" id="{03875909-3D1E-979D-0CDB-22C104F94DB0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15" name="Прямоугольник: скругленные углы 514">
                <a:extLst>
                  <a:ext uri="{FF2B5EF4-FFF2-40B4-BE49-F238E27FC236}">
                    <a16:creationId xmlns:a16="http://schemas.microsoft.com/office/drawing/2014/main" id="{1B8CBBF2-ED61-4724-7D96-0152ED77F601}"/>
                  </a:ext>
                </a:extLst>
              </p:cNvPr>
              <p:cNvSpPr/>
              <p:nvPr/>
            </p:nvSpPr>
            <p:spPr>
              <a:xfrm>
                <a:off x="3858768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4" name="Прямоугольник: скругленные углы 513">
                <a:extLst>
                  <a:ext uri="{FF2B5EF4-FFF2-40B4-BE49-F238E27FC236}">
                    <a16:creationId xmlns:a16="http://schemas.microsoft.com/office/drawing/2014/main" id="{C97EE1D1-28C2-EDA3-E0F9-2A54B442DBCD}"/>
                  </a:ext>
                </a:extLst>
              </p:cNvPr>
              <p:cNvSpPr/>
              <p:nvPr/>
            </p:nvSpPr>
            <p:spPr>
              <a:xfrm>
                <a:off x="555955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21" name="Группа 520">
              <a:extLst>
                <a:ext uri="{FF2B5EF4-FFF2-40B4-BE49-F238E27FC236}">
                  <a16:creationId xmlns:a16="http://schemas.microsoft.com/office/drawing/2014/main" id="{890D8C3C-5093-CE1E-FEB3-DA0CDBD2DB0A}"/>
                </a:ext>
              </a:extLst>
            </p:cNvPr>
            <p:cNvGrpSpPr/>
            <p:nvPr/>
          </p:nvGrpSpPr>
          <p:grpSpPr>
            <a:xfrm>
              <a:off x="1727313" y="3452800"/>
              <a:ext cx="5425440" cy="719328"/>
              <a:chOff x="1285353" y="1194816"/>
              <a:chExt cx="5425440" cy="719328"/>
            </a:xfrm>
          </p:grpSpPr>
          <p:sp>
            <p:nvSpPr>
              <p:cNvPr id="522" name="Прямоугольник: скругленные углы 521">
                <a:extLst>
                  <a:ext uri="{FF2B5EF4-FFF2-40B4-BE49-F238E27FC236}">
                    <a16:creationId xmlns:a16="http://schemas.microsoft.com/office/drawing/2014/main" id="{6822EEDC-4A3E-792F-0065-09C55457F5D3}"/>
                  </a:ext>
                </a:extLst>
              </p:cNvPr>
              <p:cNvSpPr/>
              <p:nvPr/>
            </p:nvSpPr>
            <p:spPr>
              <a:xfrm>
                <a:off x="1285353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523" name="Группа 522">
                <a:extLst>
                  <a:ext uri="{FF2B5EF4-FFF2-40B4-BE49-F238E27FC236}">
                    <a16:creationId xmlns:a16="http://schemas.microsoft.com/office/drawing/2014/main" id="{4E19589B-F820-15CB-E52A-01319F157A8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37" name="Прямоугольник: скругленные углы 536">
                  <a:extLst>
                    <a:ext uri="{FF2B5EF4-FFF2-40B4-BE49-F238E27FC236}">
                      <a16:creationId xmlns:a16="http://schemas.microsoft.com/office/drawing/2014/main" id="{B1564F09-4E5F-6750-FD24-08A70E260774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8" name="Прямоугольник: скругленные углы 537">
                  <a:extLst>
                    <a:ext uri="{FF2B5EF4-FFF2-40B4-BE49-F238E27FC236}">
                      <a16:creationId xmlns:a16="http://schemas.microsoft.com/office/drawing/2014/main" id="{8907C889-22C5-A023-2D38-B556F900D763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31" name="Прямоугольник: скругленные углы 530">
                <a:extLst>
                  <a:ext uri="{FF2B5EF4-FFF2-40B4-BE49-F238E27FC236}">
                    <a16:creationId xmlns:a16="http://schemas.microsoft.com/office/drawing/2014/main" id="{506AA4F4-BDF1-EBB4-8F61-193949CDD843}"/>
                  </a:ext>
                </a:extLst>
              </p:cNvPr>
              <p:cNvSpPr/>
              <p:nvPr/>
            </p:nvSpPr>
            <p:spPr>
              <a:xfrm>
                <a:off x="2752344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528" name="Прямоугольник: скругленные углы 527">
                <a:extLst>
                  <a:ext uri="{FF2B5EF4-FFF2-40B4-BE49-F238E27FC236}">
                    <a16:creationId xmlns:a16="http://schemas.microsoft.com/office/drawing/2014/main" id="{81C136B9-00FA-45CD-94B4-FD787E3C1D0B}"/>
                  </a:ext>
                </a:extLst>
              </p:cNvPr>
              <p:cNvSpPr/>
              <p:nvPr/>
            </p:nvSpPr>
            <p:spPr>
              <a:xfrm>
                <a:off x="330403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38D547B1-9663-F260-7B27-61B92345C03F}"/>
                </a:ext>
              </a:extLst>
            </p:cNvPr>
            <p:cNvSpPr txBox="1"/>
            <p:nvPr/>
          </p:nvSpPr>
          <p:spPr>
            <a:xfrm>
              <a:off x="-35563" y="1294143"/>
              <a:ext cx="1706543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MARKING</a:t>
              </a:r>
            </a:p>
            <a:p>
              <a:r>
                <a:rPr lang="en-US" b="1" dirty="0"/>
                <a:t>(</a:t>
              </a:r>
              <a:r>
                <a:rPr lang="ru-RU" b="1" dirty="0"/>
                <a:t>маркировка)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7C76E913-AF5C-42D1-F9CA-A9EDD149BCD1}"/>
                </a:ext>
              </a:extLst>
            </p:cNvPr>
            <p:cNvSpPr txBox="1"/>
            <p:nvPr/>
          </p:nvSpPr>
          <p:spPr>
            <a:xfrm>
              <a:off x="77892" y="2461591"/>
              <a:ext cx="1479635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SWEEPING</a:t>
              </a:r>
              <a:endParaRPr lang="ru-RU" b="1" dirty="0"/>
            </a:p>
            <a:p>
              <a:pPr algn="ctr"/>
              <a:r>
                <a:rPr lang="ru-RU" b="1" dirty="0"/>
                <a:t>(очистка)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46CCF71-F537-C109-700E-E77A56A8C037}"/>
                </a:ext>
              </a:extLst>
            </p:cNvPr>
            <p:cNvSpPr txBox="1"/>
            <p:nvPr/>
          </p:nvSpPr>
          <p:spPr>
            <a:xfrm>
              <a:off x="-219176" y="3448394"/>
              <a:ext cx="2148324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COMPACTION</a:t>
              </a:r>
              <a:endParaRPr lang="ru-RU" b="1" dirty="0"/>
            </a:p>
            <a:p>
              <a:pPr algn="ctr"/>
              <a:r>
                <a:rPr lang="ru-RU" b="1" dirty="0"/>
                <a:t>(уплотнение)</a:t>
              </a:r>
            </a:p>
          </p:txBody>
        </p:sp>
        <p:sp>
          <p:nvSpPr>
            <p:cNvPr id="558" name="Прямоугольник: скругленные углы 557">
              <a:extLst>
                <a:ext uri="{FF2B5EF4-FFF2-40B4-BE49-F238E27FC236}">
                  <a16:creationId xmlns:a16="http://schemas.microsoft.com/office/drawing/2014/main" id="{63DADB14-C960-D94A-FF8A-8B91D45658BA}"/>
                </a:ext>
              </a:extLst>
            </p:cNvPr>
            <p:cNvSpPr/>
            <p:nvPr/>
          </p:nvSpPr>
          <p:spPr>
            <a:xfrm>
              <a:off x="7365492" y="2045420"/>
              <a:ext cx="644652" cy="596955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accent2">
                      <a:lumMod val="10000"/>
                    </a:schemeClr>
                  </a:solidFill>
                </a:rPr>
                <a:t>NOT USE</a:t>
              </a:r>
              <a:endParaRPr lang="ru-RU" sz="105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  <p:sp>
          <p:nvSpPr>
            <p:cNvPr id="559" name="Прямоугольник: скругленные углы 558">
              <a:extLst>
                <a:ext uri="{FF2B5EF4-FFF2-40B4-BE49-F238E27FC236}">
                  <a16:creationId xmlns:a16="http://schemas.microsoft.com/office/drawing/2014/main" id="{4ECDDC0F-ECFF-E218-1CDC-660187FA7FAF}"/>
                </a:ext>
              </a:extLst>
            </p:cNvPr>
            <p:cNvSpPr/>
            <p:nvPr/>
          </p:nvSpPr>
          <p:spPr>
            <a:xfrm>
              <a:off x="7365492" y="1285257"/>
              <a:ext cx="644652" cy="59695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accent2">
                      <a:lumMod val="10000"/>
                    </a:schemeClr>
                  </a:solidFill>
                </a:rPr>
                <a:t>USE</a:t>
              </a:r>
              <a:endParaRPr lang="ru-RU" sz="110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</p:grpSp>
      <p:grpSp>
        <p:nvGrpSpPr>
          <p:cNvPr id="560" name="Группа 559">
            <a:extLst>
              <a:ext uri="{FF2B5EF4-FFF2-40B4-BE49-F238E27FC236}">
                <a16:creationId xmlns:a16="http://schemas.microsoft.com/office/drawing/2014/main" id="{D63FD299-FD60-034E-266C-A89536308864}"/>
              </a:ext>
            </a:extLst>
          </p:cNvPr>
          <p:cNvGrpSpPr/>
          <p:nvPr/>
        </p:nvGrpSpPr>
        <p:grpSpPr>
          <a:xfrm>
            <a:off x="5854333" y="2562305"/>
            <a:ext cx="2822105" cy="1956799"/>
            <a:chOff x="242124" y="2130179"/>
            <a:chExt cx="2822105" cy="1956799"/>
          </a:xfrm>
        </p:grpSpPr>
        <p:sp>
          <p:nvSpPr>
            <p:cNvPr id="562" name="Подзаголовок 22">
              <a:extLst>
                <a:ext uri="{FF2B5EF4-FFF2-40B4-BE49-F238E27FC236}">
                  <a16:creationId xmlns:a16="http://schemas.microsoft.com/office/drawing/2014/main" id="{B77AEC21-58A9-FE29-80FD-600D7E099371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63" name="Google Shape;563;p34">
              <a:extLst>
                <a:ext uri="{FF2B5EF4-FFF2-40B4-BE49-F238E27FC236}">
                  <a16:creationId xmlns:a16="http://schemas.microsoft.com/office/drawing/2014/main" id="{76EA430A-6D14-981E-C0CF-9B65236E76F4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</a:t>
              </a:r>
              <a:r>
                <a:rPr lang="en-US" sz="1200" b="0" dirty="0"/>
                <a:t>GC</a:t>
              </a:r>
              <a:r>
                <a:rPr lang="ru-RU" sz="1200" b="0" dirty="0"/>
                <a:t> находит и помечает объекты</a:t>
              </a:r>
              <a:r>
                <a:rPr lang="en-US" sz="1200" b="0" dirty="0"/>
                <a:t>,</a:t>
              </a:r>
              <a:r>
                <a:rPr lang="ru-RU" sz="1200" b="0" dirty="0"/>
                <a:t> на которые есть ссылки</a:t>
              </a:r>
            </a:p>
            <a:p>
              <a:endParaRPr lang="en-US" sz="1200" dirty="0"/>
            </a:p>
          </p:txBody>
        </p:sp>
        <p:cxnSp>
          <p:nvCxnSpPr>
            <p:cNvPr id="564" name="Прямая соединительная линия 563">
              <a:extLst>
                <a:ext uri="{FF2B5EF4-FFF2-40B4-BE49-F238E27FC236}">
                  <a16:creationId xmlns:a16="http://schemas.microsoft.com/office/drawing/2014/main" id="{F5A80E61-00E8-92AE-5649-E31AF63964AD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5" name="Google Shape;563;p34">
              <a:extLst>
                <a:ext uri="{FF2B5EF4-FFF2-40B4-BE49-F238E27FC236}">
                  <a16:creationId xmlns:a16="http://schemas.microsoft.com/office/drawing/2014/main" id="{E4F4FE49-3BAB-8070-4066-3A27F4C6CDA6}"/>
                </a:ext>
              </a:extLst>
            </p:cNvPr>
            <p:cNvSpPr txBox="1">
              <a:spLocks/>
            </p:cNvSpPr>
            <p:nvPr/>
          </p:nvSpPr>
          <p:spPr>
            <a:xfrm>
              <a:off x="610388" y="3086601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Удаляются все непомеченные объекты – это мусор.</a:t>
              </a:r>
            </a:p>
            <a:p>
              <a:endParaRPr lang="en-US" sz="1200" dirty="0"/>
            </a:p>
          </p:txBody>
        </p:sp>
        <p:sp>
          <p:nvSpPr>
            <p:cNvPr id="566" name="Google Shape;563;p34">
              <a:extLst>
                <a:ext uri="{FF2B5EF4-FFF2-40B4-BE49-F238E27FC236}">
                  <a16:creationId xmlns:a16="http://schemas.microsoft.com/office/drawing/2014/main" id="{E70F8550-DB1B-9ED6-EE09-01770B5CB01F}"/>
                </a:ext>
              </a:extLst>
            </p:cNvPr>
            <p:cNvSpPr txBox="1">
              <a:spLocks/>
            </p:cNvSpPr>
            <p:nvPr/>
          </p:nvSpPr>
          <p:spPr>
            <a:xfrm>
              <a:off x="626136" y="3491342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Объекты</a:t>
              </a:r>
              <a:r>
                <a:rPr lang="en-US" sz="1200" b="0" dirty="0"/>
                <a:t>, </a:t>
              </a:r>
              <a:r>
                <a:rPr lang="ru-RU" sz="1200" b="0" dirty="0"/>
                <a:t>на которые есть ссылки</a:t>
              </a:r>
              <a:r>
                <a:rPr lang="en-US" sz="1200" b="0" dirty="0"/>
                <a:t>, </a:t>
              </a:r>
              <a:r>
                <a:rPr lang="ru-RU" sz="1200" b="0" dirty="0"/>
                <a:t>сдвигаются в один блок</a:t>
              </a:r>
              <a:r>
                <a:rPr lang="en-US" sz="1200" b="0" dirty="0"/>
                <a:t>, </a:t>
              </a:r>
              <a:r>
                <a:rPr lang="ru-RU" sz="1200" b="0" dirty="0"/>
                <a:t>чтобы не было пустот</a:t>
              </a:r>
            </a:p>
            <a:p>
              <a:endParaRPr lang="en-US" sz="1200" dirty="0"/>
            </a:p>
          </p:txBody>
        </p:sp>
      </p:grpSp>
      <p:cxnSp>
        <p:nvCxnSpPr>
          <p:cNvPr id="602" name="Прямая соединительная линия 601">
            <a:extLst>
              <a:ext uri="{FF2B5EF4-FFF2-40B4-BE49-F238E27FC236}">
                <a16:creationId xmlns:a16="http://schemas.microsoft.com/office/drawing/2014/main" id="{C8BF6DBF-C61A-2097-3DCF-54AE53F343F8}"/>
              </a:ext>
            </a:extLst>
          </p:cNvPr>
          <p:cNvCxnSpPr>
            <a:cxnSpLocks/>
          </p:cNvCxnSpPr>
          <p:nvPr/>
        </p:nvCxnSpPr>
        <p:spPr>
          <a:xfrm>
            <a:off x="1238095" y="4078016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Подзаголовок 22">
            <a:extLst>
              <a:ext uri="{FF2B5EF4-FFF2-40B4-BE49-F238E27FC236}">
                <a16:creationId xmlns:a16="http://schemas.microsoft.com/office/drawing/2014/main" id="{EC4ABB44-74CC-D52F-B564-9A429AC05B0E}"/>
              </a:ext>
            </a:extLst>
          </p:cNvPr>
          <p:cNvSpPr txBox="1">
            <a:spLocks/>
          </p:cNvSpPr>
          <p:nvPr/>
        </p:nvSpPr>
        <p:spPr>
          <a:xfrm>
            <a:off x="1039261" y="4055308"/>
            <a:ext cx="541135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400" dirty="0"/>
              <a:t>! </a:t>
            </a:r>
            <a:r>
              <a:rPr lang="ru-RU" sz="1400" b="0" dirty="0"/>
              <a:t>На этапе </a:t>
            </a:r>
            <a:r>
              <a:rPr lang="en-US" sz="1400" b="0" dirty="0"/>
              <a:t>MARKING </a:t>
            </a:r>
            <a:r>
              <a:rPr lang="ru-RU" sz="1400" b="0" dirty="0"/>
              <a:t>программа не работает – это называется </a:t>
            </a:r>
            <a:r>
              <a:rPr lang="en-US" sz="1400" b="0" dirty="0"/>
              <a:t>Stop the World</a:t>
            </a:r>
            <a:endParaRPr lang="ru-RU" sz="1400" b="0" dirty="0"/>
          </a:p>
        </p:txBody>
      </p:sp>
    </p:spTree>
    <p:extLst>
      <p:ext uri="{BB962C8B-B14F-4D97-AF65-F5344CB8AC3E}">
        <p14:creationId xmlns:p14="http://schemas.microsoft.com/office/powerpoint/2010/main" val="188373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CF8C664-83B6-CA8B-FC3D-F0AE33A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6099F807-2F37-11AB-BF86-507220F58EFF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-696304" y="953419"/>
            <a:ext cx="2537100" cy="461700"/>
          </a:xfrm>
        </p:spPr>
        <p:txBody>
          <a:bodyPr/>
          <a:lstStyle/>
          <a:p>
            <a:r>
              <a:rPr lang="en-US" dirty="0"/>
              <a:t>Serial</a:t>
            </a:r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3BD2061-B491-391B-10FE-BDE89F97B6C7}"/>
              </a:ext>
            </a:extLst>
          </p:cNvPr>
          <p:cNvGrpSpPr/>
          <p:nvPr/>
        </p:nvGrpSpPr>
        <p:grpSpPr>
          <a:xfrm>
            <a:off x="-82800" y="1918019"/>
            <a:ext cx="2979358" cy="1081554"/>
            <a:chOff x="213118" y="2095980"/>
            <a:chExt cx="2979358" cy="1081554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348641B5-C5A8-CFE2-7D68-2E34E8883918}"/>
                </a:ext>
              </a:extLst>
            </p:cNvPr>
            <p:cNvSpPr txBox="1">
              <a:spLocks/>
            </p:cNvSpPr>
            <p:nvPr/>
          </p:nvSpPr>
          <p:spPr>
            <a:xfrm>
              <a:off x="213118" y="2095980"/>
              <a:ext cx="2979358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Когда использовать?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CE77AB11-2738-89F3-67DD-411C7EB1284E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Для слабых ПК и маленьких программ</a:t>
              </a:r>
              <a:r>
                <a:rPr lang="en-US" sz="1200" b="0" dirty="0"/>
                <a:t>, </a:t>
              </a:r>
              <a:r>
                <a:rPr lang="ru-RU" sz="1200" b="0" dirty="0"/>
                <a:t>где нужно работать с небольшими наборами данных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738D46C9-D8A2-0286-6AAF-325B3274FE74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110" cy="654772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4EAC4FF3-9F11-AAD0-1B1C-6A9C368B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1" y="135897"/>
            <a:ext cx="7704000" cy="572700"/>
          </a:xfrm>
        </p:spPr>
        <p:txBody>
          <a:bodyPr/>
          <a:lstStyle/>
          <a:p>
            <a:r>
              <a:rPr lang="ru-RU" dirty="0"/>
              <a:t>Типы сборщиков мусора</a:t>
            </a:r>
          </a:p>
        </p:txBody>
      </p:sp>
      <p:grpSp>
        <p:nvGrpSpPr>
          <p:cNvPr id="573" name="Группа 572">
            <a:extLst>
              <a:ext uri="{FF2B5EF4-FFF2-40B4-BE49-F238E27FC236}">
                <a16:creationId xmlns:a16="http://schemas.microsoft.com/office/drawing/2014/main" id="{664CDA10-2F65-926C-4E90-D3B21FE056AA}"/>
              </a:ext>
            </a:extLst>
          </p:cNvPr>
          <p:cNvGrpSpPr/>
          <p:nvPr/>
        </p:nvGrpSpPr>
        <p:grpSpPr>
          <a:xfrm>
            <a:off x="317863" y="916602"/>
            <a:ext cx="8273510" cy="2743098"/>
            <a:chOff x="266411" y="902188"/>
            <a:chExt cx="8273510" cy="2743098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64EB73EE-3ABA-D21F-53D0-8BE1C7066B17}"/>
                </a:ext>
              </a:extLst>
            </p:cNvPr>
            <p:cNvCxnSpPr>
              <a:cxnSpLocks/>
            </p:cNvCxnSpPr>
            <p:nvPr/>
          </p:nvCxnSpPr>
          <p:spPr>
            <a:xfrm>
              <a:off x="313948" y="1290152"/>
              <a:ext cx="0" cy="60417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Google Shape;563;p34">
              <a:extLst>
                <a:ext uri="{FF2B5EF4-FFF2-40B4-BE49-F238E27FC236}">
                  <a16:creationId xmlns:a16="http://schemas.microsoft.com/office/drawing/2014/main" id="{CA9AEC91-6680-EC9B-4A9C-CEE9DEEB06ED}"/>
                </a:ext>
              </a:extLst>
            </p:cNvPr>
            <p:cNvSpPr txBox="1">
              <a:spLocks/>
            </p:cNvSpPr>
            <p:nvPr/>
          </p:nvSpPr>
          <p:spPr>
            <a:xfrm>
              <a:off x="266411" y="1280844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один поток</a:t>
              </a:r>
            </a:p>
            <a:p>
              <a:endParaRPr lang="en-US" sz="1200" dirty="0"/>
            </a:p>
          </p:txBody>
        </p:sp>
        <p:sp>
          <p:nvSpPr>
            <p:cNvPr id="13" name="Подзаголовок 22">
              <a:extLst>
                <a:ext uri="{FF2B5EF4-FFF2-40B4-BE49-F238E27FC236}">
                  <a16:creationId xmlns:a16="http://schemas.microsoft.com/office/drawing/2014/main" id="{9708314A-A319-10B9-ABB3-B2FA72F964D3}"/>
                </a:ext>
              </a:extLst>
            </p:cNvPr>
            <p:cNvSpPr txBox="1">
              <a:spLocks/>
            </p:cNvSpPr>
            <p:nvPr/>
          </p:nvSpPr>
          <p:spPr>
            <a:xfrm>
              <a:off x="2378922" y="948403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Parallel</a:t>
              </a:r>
              <a:endParaRPr lang="ru-RU" dirty="0"/>
            </a:p>
          </p:txBody>
        </p: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36B54592-B50D-1F4C-ED84-90DDDF6996C9}"/>
                </a:ext>
              </a:extLst>
            </p:cNvPr>
            <p:cNvCxnSpPr>
              <a:cxnSpLocks/>
            </p:cNvCxnSpPr>
            <p:nvPr/>
          </p:nvCxnSpPr>
          <p:spPr>
            <a:xfrm>
              <a:off x="3313196" y="1297560"/>
              <a:ext cx="1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Google Shape;563;p34">
              <a:extLst>
                <a:ext uri="{FF2B5EF4-FFF2-40B4-BE49-F238E27FC236}">
                  <a16:creationId xmlns:a16="http://schemas.microsoft.com/office/drawing/2014/main" id="{928F4F33-F836-C2A4-1D38-1317E7E3B424}"/>
                </a:ext>
              </a:extLst>
            </p:cNvPr>
            <p:cNvSpPr txBox="1">
              <a:spLocks/>
            </p:cNvSpPr>
            <p:nvPr/>
          </p:nvSpPr>
          <p:spPr>
            <a:xfrm>
              <a:off x="3313197" y="1363888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несколько потоков</a:t>
              </a:r>
            </a:p>
            <a:p>
              <a:endParaRPr lang="en-US" sz="1200" dirty="0"/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61CDAF53-1F95-285A-CFAB-7B0C50DD175A}"/>
                </a:ext>
              </a:extLst>
            </p:cNvPr>
            <p:cNvGrpSpPr/>
            <p:nvPr/>
          </p:nvGrpSpPr>
          <p:grpSpPr>
            <a:xfrm>
              <a:off x="2845594" y="1896111"/>
              <a:ext cx="2979358" cy="1329203"/>
              <a:chOff x="204327" y="2093447"/>
              <a:chExt cx="2979358" cy="1329203"/>
            </a:xfrm>
          </p:grpSpPr>
          <p:sp>
            <p:nvSpPr>
              <p:cNvPr id="22" name="Подзаголовок 22">
                <a:extLst>
                  <a:ext uri="{FF2B5EF4-FFF2-40B4-BE49-F238E27FC236}">
                    <a16:creationId xmlns:a16="http://schemas.microsoft.com/office/drawing/2014/main" id="{C734D961-F4B3-ED32-7FB9-A845BA65A3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4327" y="2093447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24" name="Google Shape;563;p34">
                <a:extLst>
                  <a:ext uri="{FF2B5EF4-FFF2-40B4-BE49-F238E27FC236}">
                    <a16:creationId xmlns:a16="http://schemas.microsoft.com/office/drawing/2014/main" id="{E48DFCDA-554E-87CF-4856-2CDCDAF000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417034"/>
                <a:ext cx="2450448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Работа со средними и большими наборами данных</a:t>
                </a:r>
              </a:p>
              <a:p>
                <a:pPr algn="l"/>
                <a:endParaRPr lang="ru-RU" sz="1200" b="0" dirty="0"/>
              </a:p>
              <a:p>
                <a:pPr algn="l"/>
                <a:r>
                  <a:rPr lang="ru-RU" sz="1200" b="0" dirty="0"/>
                  <a:t>Если важна скорость</a:t>
                </a:r>
                <a:r>
                  <a:rPr lang="en-US" sz="1200" b="0" dirty="0"/>
                  <a:t>,</a:t>
                </a:r>
                <a:r>
                  <a:rPr lang="ru-RU" sz="1200" b="0" dirty="0"/>
                  <a:t> паузы </a:t>
                </a:r>
                <a:r>
                  <a:rPr lang="en-US" sz="1200" b="0" dirty="0"/>
                  <a:t>&lt;=1 </a:t>
                </a:r>
                <a:r>
                  <a:rPr lang="ru-RU" sz="1200" b="0" dirty="0"/>
                  <a:t>сек</a:t>
                </a:r>
              </a:p>
              <a:p>
                <a:pPr algn="l"/>
                <a:endParaRPr lang="ru-RU" sz="1200" b="0" dirty="0"/>
              </a:p>
            </p:txBody>
          </p: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396EC3DB-5353-80D0-CDFB-B4C996F43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899888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Подзаголовок 22">
              <a:extLst>
                <a:ext uri="{FF2B5EF4-FFF2-40B4-BE49-F238E27FC236}">
                  <a16:creationId xmlns:a16="http://schemas.microsoft.com/office/drawing/2014/main" id="{1EFDDEA8-B556-2B75-3935-C1C92B08963C}"/>
                </a:ext>
              </a:extLst>
            </p:cNvPr>
            <p:cNvSpPr txBox="1">
              <a:spLocks/>
            </p:cNvSpPr>
            <p:nvPr/>
          </p:nvSpPr>
          <p:spPr>
            <a:xfrm>
              <a:off x="4778862" y="902188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G1</a:t>
              </a:r>
              <a:endParaRPr lang="ru-RU" dirty="0"/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C2BF6D37-CCA4-C720-E56C-08EB63C4D8B0}"/>
                </a:ext>
              </a:extLst>
            </p:cNvPr>
            <p:cNvCxnSpPr>
              <a:cxnSpLocks/>
            </p:cNvCxnSpPr>
            <p:nvPr/>
          </p:nvCxnSpPr>
          <p:spPr>
            <a:xfrm>
              <a:off x="6051483" y="1297560"/>
              <a:ext cx="2667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Google Shape;563;p34">
              <a:extLst>
                <a:ext uri="{FF2B5EF4-FFF2-40B4-BE49-F238E27FC236}">
                  <a16:creationId xmlns:a16="http://schemas.microsoft.com/office/drawing/2014/main" id="{481BA758-49FC-7265-51F6-525F9E77BAE3}"/>
                </a:ext>
              </a:extLst>
            </p:cNvPr>
            <p:cNvSpPr txBox="1">
              <a:spLocks/>
            </p:cNvSpPr>
            <p:nvPr/>
          </p:nvSpPr>
          <p:spPr>
            <a:xfrm>
              <a:off x="6009033" y="1213172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Работает параллельно с программой</a:t>
              </a:r>
            </a:p>
            <a:p>
              <a:endParaRPr lang="en-US" sz="1200" dirty="0"/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0479DB38-885D-0719-DA48-7092723E4354}"/>
                </a:ext>
              </a:extLst>
            </p:cNvPr>
            <p:cNvGrpSpPr/>
            <p:nvPr/>
          </p:nvGrpSpPr>
          <p:grpSpPr>
            <a:xfrm>
              <a:off x="5560563" y="1948804"/>
              <a:ext cx="2979358" cy="1162402"/>
              <a:chOff x="165311" y="2015132"/>
              <a:chExt cx="2979358" cy="1162402"/>
            </a:xfrm>
          </p:grpSpPr>
          <p:sp>
            <p:nvSpPr>
              <p:cNvPr id="512" name="Подзаголовок 22">
                <a:extLst>
                  <a:ext uri="{FF2B5EF4-FFF2-40B4-BE49-F238E27FC236}">
                    <a16:creationId xmlns:a16="http://schemas.microsoft.com/office/drawing/2014/main" id="{31F7957E-31A8-980F-DA38-3937B04CF4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311" y="2015132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513" name="Google Shape;563;p34">
                <a:extLst>
                  <a:ext uri="{FF2B5EF4-FFF2-40B4-BE49-F238E27FC236}">
                    <a16:creationId xmlns:a16="http://schemas.microsoft.com/office/drawing/2014/main" id="{25CD6BBC-E74D-2C3F-F53A-D387332783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507617"/>
                <a:ext cx="22470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Когда важна скорость отклика</a:t>
                </a:r>
                <a:r>
                  <a:rPr lang="en-US" sz="1200" b="0" dirty="0"/>
                  <a:t>, </a:t>
                </a:r>
                <a:r>
                  <a:rPr lang="ru-RU" sz="1200" b="0" dirty="0"/>
                  <a:t>пауза</a:t>
                </a:r>
                <a:r>
                  <a:rPr lang="en-US" sz="1200" b="0" dirty="0"/>
                  <a:t> &lt; 1 </a:t>
                </a:r>
                <a:r>
                  <a:rPr lang="ru-RU" sz="1200" b="0" dirty="0"/>
                  <a:t>сек</a:t>
                </a:r>
              </a:p>
              <a:p>
                <a:endParaRPr lang="en-US" sz="1200" dirty="0"/>
              </a:p>
            </p:txBody>
          </p:sp>
          <p:cxnSp>
            <p:nvCxnSpPr>
              <p:cNvPr id="514" name="Прямая соединительная линия 513">
                <a:extLst>
                  <a:ext uri="{FF2B5EF4-FFF2-40B4-BE49-F238E27FC236}">
                    <a16:creationId xmlns:a16="http://schemas.microsoft.com/office/drawing/2014/main" id="{0F1001B8-8B88-70FC-C04C-DEA6120D6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654772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0" name="Подзаголовок 22">
              <a:extLst>
                <a:ext uri="{FF2B5EF4-FFF2-40B4-BE49-F238E27FC236}">
                  <a16:creationId xmlns:a16="http://schemas.microsoft.com/office/drawing/2014/main" id="{D7B83D28-FA22-9D73-6C69-54DA385375F8}"/>
                </a:ext>
              </a:extLst>
            </p:cNvPr>
            <p:cNvSpPr txBox="1">
              <a:spLocks/>
            </p:cNvSpPr>
            <p:nvPr/>
          </p:nvSpPr>
          <p:spPr>
            <a:xfrm>
              <a:off x="579939" y="3183586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ZGC</a:t>
              </a:r>
              <a:endParaRPr lang="ru-RU" dirty="0"/>
            </a:p>
          </p:txBody>
        </p:sp>
      </p:grpSp>
      <p:cxnSp>
        <p:nvCxnSpPr>
          <p:cNvPr id="571" name="Прямая соединительная линия 570">
            <a:extLst>
              <a:ext uri="{FF2B5EF4-FFF2-40B4-BE49-F238E27FC236}">
                <a16:creationId xmlns:a16="http://schemas.microsoft.com/office/drawing/2014/main" id="{EC959169-6144-1178-3ACF-6B32FAB71267}"/>
              </a:ext>
            </a:extLst>
          </p:cNvPr>
          <p:cNvCxnSpPr>
            <a:cxnSpLocks/>
          </p:cNvCxnSpPr>
          <p:nvPr/>
        </p:nvCxnSpPr>
        <p:spPr>
          <a:xfrm>
            <a:off x="1753733" y="3589141"/>
            <a:ext cx="1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" name="Google Shape;563;p34">
            <a:extLst>
              <a:ext uri="{FF2B5EF4-FFF2-40B4-BE49-F238E27FC236}">
                <a16:creationId xmlns:a16="http://schemas.microsoft.com/office/drawing/2014/main" id="{5429D448-13A7-765E-2265-E26504C324B6}"/>
              </a:ext>
            </a:extLst>
          </p:cNvPr>
          <p:cNvSpPr txBox="1">
            <a:spLocks/>
          </p:cNvSpPr>
          <p:nvPr/>
        </p:nvSpPr>
        <p:spPr>
          <a:xfrm>
            <a:off x="1696583" y="3525930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Почти не останавливает программу</a:t>
            </a:r>
          </a:p>
          <a:p>
            <a:endParaRPr lang="en-US" sz="1200" dirty="0"/>
          </a:p>
        </p:txBody>
      </p:sp>
      <p:sp>
        <p:nvSpPr>
          <p:cNvPr id="574" name="Подзаголовок 22">
            <a:extLst>
              <a:ext uri="{FF2B5EF4-FFF2-40B4-BE49-F238E27FC236}">
                <a16:creationId xmlns:a16="http://schemas.microsoft.com/office/drawing/2014/main" id="{E85596E7-A06A-F46E-AD97-50C283370E76}"/>
              </a:ext>
            </a:extLst>
          </p:cNvPr>
          <p:cNvSpPr txBox="1">
            <a:spLocks/>
          </p:cNvSpPr>
          <p:nvPr/>
        </p:nvSpPr>
        <p:spPr>
          <a:xfrm>
            <a:off x="2744004" y="3226051"/>
            <a:ext cx="2979358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ru-RU" dirty="0"/>
              <a:t>Когда использовать?</a:t>
            </a:r>
          </a:p>
        </p:txBody>
      </p:sp>
      <p:sp>
        <p:nvSpPr>
          <p:cNvPr id="575" name="Google Shape;563;p34">
            <a:extLst>
              <a:ext uri="{FF2B5EF4-FFF2-40B4-BE49-F238E27FC236}">
                <a16:creationId xmlns:a16="http://schemas.microsoft.com/office/drawing/2014/main" id="{A2A20DD1-0C65-6265-FD48-7C050BC6DF45}"/>
              </a:ext>
            </a:extLst>
          </p:cNvPr>
          <p:cNvSpPr txBox="1">
            <a:spLocks/>
          </p:cNvSpPr>
          <p:nvPr/>
        </p:nvSpPr>
        <p:spPr>
          <a:xfrm>
            <a:off x="3144667" y="3644345"/>
            <a:ext cx="2450448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Для быстрых систем (биржи</a:t>
            </a:r>
            <a:r>
              <a:rPr lang="en-US" sz="1200" b="0" dirty="0"/>
              <a:t>, </a:t>
            </a:r>
            <a:r>
              <a:rPr lang="ru-RU" sz="1200" b="0" dirty="0"/>
              <a:t>игры)</a:t>
            </a:r>
            <a:r>
              <a:rPr lang="en-US" sz="1200" b="0" dirty="0"/>
              <a:t>,</a:t>
            </a:r>
            <a:r>
              <a:rPr lang="ru-RU" sz="1200" b="0" dirty="0"/>
              <a:t> где важна каждая миллисекунда.</a:t>
            </a:r>
          </a:p>
          <a:p>
            <a:endParaRPr lang="en-US" sz="1200" dirty="0"/>
          </a:p>
        </p:txBody>
      </p:sp>
      <p:cxnSp>
        <p:nvCxnSpPr>
          <p:cNvPr id="576" name="Прямая соединительная линия 575">
            <a:extLst>
              <a:ext uri="{FF2B5EF4-FFF2-40B4-BE49-F238E27FC236}">
                <a16:creationId xmlns:a16="http://schemas.microsoft.com/office/drawing/2014/main" id="{B0CEF54F-14A6-24F2-501F-49680ED91A23}"/>
              </a:ext>
            </a:extLst>
          </p:cNvPr>
          <p:cNvCxnSpPr>
            <a:cxnSpLocks/>
          </p:cNvCxnSpPr>
          <p:nvPr/>
        </p:nvCxnSpPr>
        <p:spPr>
          <a:xfrm>
            <a:off x="3168491" y="3652833"/>
            <a:ext cx="2110" cy="654772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69986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292</Words>
  <Application>Microsoft Office PowerPoint</Application>
  <PresentationFormat>Экран (16:9)</PresentationFormat>
  <Paragraphs>144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Sora</vt:lpstr>
      <vt:lpstr>Assistant</vt:lpstr>
      <vt:lpstr>Clean Aesthetic Style Marketing Plan by Slidesgo</vt:lpstr>
      <vt:lpstr>Сборщик мусора в Java</vt:lpstr>
      <vt:lpstr>Структура памяти в Java</vt:lpstr>
      <vt:lpstr>Что такое мусор?</vt:lpstr>
      <vt:lpstr>Сборка мусора: процесс</vt:lpstr>
      <vt:lpstr>Типы сборщиков мусора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Виолетта Енченкова</dc:creator>
  <cp:lastModifiedBy>Виолетта Енченкова</cp:lastModifiedBy>
  <cp:revision>3</cp:revision>
  <dcterms:modified xsi:type="dcterms:W3CDTF">2026-03-19T15:33:27Z</dcterms:modified>
</cp:coreProperties>
</file>